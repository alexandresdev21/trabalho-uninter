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Clique para mover o diapositivo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pt-BR" sz="2000" spc="-1" strike="noStrike">
                <a:latin typeface="Arial"/>
              </a:rPr>
              <a:t>Clique para editar o formato das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fld id="{D2020F6D-1F2D-4F3C-8A2A-13A6A70AD0F8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CD077C-3F50-4422-9791-F58422F1BE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8C0CE9-BE15-44A9-8B36-5CE4C8BA329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C4F497-3FB4-47CD-AC41-6C9C15CAD5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9BF4BB-1DEE-4E30-9785-54BE166CB89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F2F0A3-9F84-4910-B39D-A7917608A06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D2B653-1406-46CF-A33A-2C18DDCA17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75D89F-D208-42DA-B783-E276D31225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DCFD81-530E-4DC1-99BC-54FB0F6B64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Clique para editar o formato do título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Segundo nível de tópicos</a:t>
            </a:r>
            <a:endParaRPr b="0" lang="pt-B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Terceiro nível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Quarto nível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Quinto nível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Sexto nível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Sétimo nível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6.png"/><Relationship Id="rId6" Type="http://schemas.openxmlformats.org/officeDocument/2006/relationships/image" Target="../media/image16.png"/><Relationship Id="rId7" Type="http://schemas.openxmlformats.org/officeDocument/2006/relationships/image" Target="../media/image16.png"/><Relationship Id="rId8" Type="http://schemas.openxmlformats.org/officeDocument/2006/relationships/image" Target="../media/image1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assets/bg-title.png"/>
          <p:cNvPicPr/>
          <p:nvPr/>
        </p:nvPicPr>
        <p:blipFill>
          <a:blip r:embed="rId1"/>
          <a:stretch/>
        </p:blipFill>
        <p:spPr>
          <a:xfrm>
            <a:off x="0" y="360"/>
            <a:ext cx="12188520" cy="6857640"/>
          </a:xfrm>
          <a:prstGeom prst="rect">
            <a:avLst/>
          </a:prstGeom>
          <a:ln w="0">
            <a:noFill/>
          </a:ln>
        </p:spPr>
      </p:pic>
      <p:pic>
        <p:nvPicPr>
          <p:cNvPr id="45" name="Image 1" descr="assets/icon-box-indigo.png"/>
          <p:cNvPicPr/>
          <p:nvPr/>
        </p:nvPicPr>
        <p:blipFill>
          <a:blip r:embed="rId2">
            <a:alphaModFix amt="12000"/>
          </a:blip>
          <a:stretch/>
        </p:blipFill>
        <p:spPr>
          <a:xfrm>
            <a:off x="9418320" y="3931920"/>
            <a:ext cx="3017160" cy="3017160"/>
          </a:xfrm>
          <a:prstGeom prst="rect">
            <a:avLst/>
          </a:prstGeom>
          <a:ln w="0">
            <a:noFill/>
          </a:ln>
        </p:spPr>
      </p:pic>
      <p:sp>
        <p:nvSpPr>
          <p:cNvPr id="46" name="Text 0"/>
          <p:cNvSpPr/>
          <p:nvPr/>
        </p:nvSpPr>
        <p:spPr>
          <a:xfrm>
            <a:off x="731520" y="12344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22d3ee"/>
                </a:solidFill>
                <a:latin typeface="Calibri"/>
                <a:ea typeface="Calibri"/>
              </a:rPr>
              <a:t>PROJETO MINI-CPS  ·  GRUPO 4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685800" y="1691640"/>
            <a:ext cx="8686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8fafc"/>
                </a:solidFill>
                <a:latin typeface="Calibri"/>
                <a:ea typeface="Calibri"/>
              </a:rPr>
              <a:t>Sistema de Controle</a:t>
            </a:r>
            <a:endParaRPr b="0" lang="pt-BR" sz="5000" spc="-1" strike="noStrike">
              <a:latin typeface="Arial"/>
            </a:endParaRPr>
          </a:p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8fafc"/>
                </a:solidFill>
                <a:latin typeface="Calibri"/>
                <a:ea typeface="Calibri"/>
              </a:rPr>
              <a:t>de Pedidos</a:t>
            </a:r>
            <a:endParaRPr b="0" lang="pt-BR" sz="5000" spc="-1" strike="noStrike"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731520" y="3611880"/>
            <a:ext cx="6949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Gestão completa de clientes, produtos e pedidos em Python + SQLite, do cadastro à emissão de relatórios.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731520" y="4343400"/>
            <a:ext cx="1124280" cy="383760"/>
          </a:xfrm>
          <a:prstGeom prst="roundRect">
            <a:avLst>
              <a:gd name="adj" fmla="val 50000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4"/>
          <p:cNvSpPr/>
          <p:nvPr/>
        </p:nvSpPr>
        <p:spPr>
          <a:xfrm>
            <a:off x="731520" y="4343400"/>
            <a:ext cx="112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818cf8"/>
                </a:solidFill>
                <a:latin typeface="Calibri"/>
                <a:ea typeface="Calibri"/>
              </a:rPr>
              <a:t>Python 3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51" name="Shape 5"/>
          <p:cNvSpPr/>
          <p:nvPr/>
        </p:nvSpPr>
        <p:spPr>
          <a:xfrm>
            <a:off x="2020680" y="4343400"/>
            <a:ext cx="923040" cy="383760"/>
          </a:xfrm>
          <a:prstGeom prst="roundRect">
            <a:avLst>
              <a:gd name="adj" fmla="val 50000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6"/>
          <p:cNvSpPr/>
          <p:nvPr/>
        </p:nvSpPr>
        <p:spPr>
          <a:xfrm>
            <a:off x="2020680" y="4343400"/>
            <a:ext cx="923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818cf8"/>
                </a:solidFill>
                <a:latin typeface="Calibri"/>
                <a:ea typeface="Calibri"/>
              </a:rPr>
              <a:t>SQLite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3108960" y="4343400"/>
            <a:ext cx="621360" cy="383760"/>
          </a:xfrm>
          <a:prstGeom prst="roundRect">
            <a:avLst>
              <a:gd name="adj" fmla="val 50000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8"/>
          <p:cNvSpPr/>
          <p:nvPr/>
        </p:nvSpPr>
        <p:spPr>
          <a:xfrm>
            <a:off x="3108960" y="4343400"/>
            <a:ext cx="621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818cf8"/>
                </a:solidFill>
                <a:latin typeface="Calibri"/>
                <a:ea typeface="Calibri"/>
              </a:rPr>
              <a:t>CLI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3895200" y="4343400"/>
            <a:ext cx="1526760" cy="383760"/>
          </a:xfrm>
          <a:prstGeom prst="roundRect">
            <a:avLst>
              <a:gd name="adj" fmla="val 50000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0"/>
          <p:cNvSpPr/>
          <p:nvPr/>
        </p:nvSpPr>
        <p:spPr>
          <a:xfrm>
            <a:off x="3895200" y="4343400"/>
            <a:ext cx="1526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818cf8"/>
                </a:solidFill>
                <a:latin typeface="Calibri"/>
                <a:ea typeface="Calibri"/>
              </a:rPr>
              <a:t>Git &amp; GitHub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57" name="Shape 11"/>
          <p:cNvSpPr/>
          <p:nvPr/>
        </p:nvSpPr>
        <p:spPr>
          <a:xfrm>
            <a:off x="731520" y="5532120"/>
            <a:ext cx="4114800" cy="360"/>
          </a:xfrm>
          <a:prstGeom prst="line">
            <a:avLst/>
          </a:prstGeom>
          <a:ln w="12700">
            <a:solidFill>
              <a:srgbClr val="242c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2"/>
          <p:cNvSpPr/>
          <p:nvPr/>
        </p:nvSpPr>
        <p:spPr>
          <a:xfrm>
            <a:off x="720000" y="4946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22d3ee"/>
                </a:solidFill>
                <a:latin typeface="Calibri"/>
                <a:ea typeface="Calibri"/>
              </a:rPr>
              <a:t>EQUIPE 4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731520" y="4680000"/>
            <a:ext cx="640044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1300" spc="-1" strike="noStrike"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Alexandre Eugênio Souza da Silveira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RU: 5749087   ·   Engenharia de Software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André Felipe Coêlho Reis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RU: 5748536   ·   Engenharia de Software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0" descr="assets/bg-content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61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22d3ee"/>
                </a:solidFill>
                <a:latin typeface="Calibri"/>
                <a:ea typeface="Calibri"/>
              </a:rPr>
              <a:t>VISÃO GERAL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8fafc"/>
                </a:solidFill>
                <a:latin typeface="Calibri"/>
                <a:ea typeface="Calibri"/>
              </a:rPr>
              <a:t>O Projeto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1133856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02 / 08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64748b"/>
                </a:solidFill>
                <a:latin typeface="Calibri"/>
                <a:ea typeface="Calibri"/>
              </a:rPr>
              <a:t>SISTEMA DE CONTROLE DE PEDIDOS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48640" y="1691640"/>
            <a:ext cx="64918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94a3b8"/>
                </a:solidFill>
                <a:latin typeface="Calibri"/>
                <a:ea typeface="Calibri"/>
              </a:rPr>
              <a:t>Sistema de linha de comando para gerenciar o ciclo completo de um pedido: cadastro de clientes e produtos, criação de pedidos com múltiplos itens, controle de status e relatórios gerenciais — com persistência em banco de dados relacional.</a:t>
            </a:r>
            <a:endParaRPr b="0" lang="pt-BR" sz="1550" spc="-1" strike="noStrike"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48640" y="342900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250" spc="-1" strike="noStrike">
                <a:solidFill>
                  <a:srgbClr val="22d3ee"/>
                </a:solidFill>
                <a:latin typeface="Calibri"/>
                <a:ea typeface="Calibri"/>
              </a:rPr>
              <a:t>Divisão de trabalho</a:t>
            </a:r>
            <a:endParaRPr b="0" lang="pt-BR" sz="1250" spc="-1" strike="noStrike"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</a:tabLst>
            </a:pPr>
            <a:endParaRPr b="0" lang="pt-BR" sz="1250" spc="-1" strike="noStrike"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4748b"/>
                </a:solidFill>
                <a:latin typeface="Calibri"/>
                <a:ea typeface="Calibri"/>
              </a:rPr>
              <a:t>Alexandre → clientes, produtos, pedidos e itens · André → relatórios e testes]</a:t>
            </a:r>
            <a:endParaRPr b="0" lang="pt-BR" sz="1250" spc="-1" strike="noStrike"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7406640" y="1691640"/>
            <a:ext cx="4205880" cy="1234080"/>
          </a:xfrm>
          <a:prstGeom prst="roundRect">
            <a:avLst>
              <a:gd name="adj" fmla="val 8889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7"/>
          <p:cNvSpPr/>
          <p:nvPr/>
        </p:nvSpPr>
        <p:spPr>
          <a:xfrm>
            <a:off x="7680960" y="2020680"/>
            <a:ext cx="566640" cy="56664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9" name="Image 1" descr="assets/icon-database-cyan.png"/>
          <p:cNvPicPr/>
          <p:nvPr/>
        </p:nvPicPr>
        <p:blipFill>
          <a:blip r:embed="rId2"/>
          <a:stretch/>
        </p:blipFill>
        <p:spPr>
          <a:xfrm>
            <a:off x="7749000" y="2088720"/>
            <a:ext cx="430560" cy="430560"/>
          </a:xfrm>
          <a:prstGeom prst="rect">
            <a:avLst/>
          </a:prstGeom>
          <a:ln w="0">
            <a:noFill/>
          </a:ln>
        </p:spPr>
      </p:pic>
      <p:sp>
        <p:nvSpPr>
          <p:cNvPr id="70" name="Text 8"/>
          <p:cNvSpPr/>
          <p:nvPr/>
        </p:nvSpPr>
        <p:spPr>
          <a:xfrm>
            <a:off x="8412480" y="180144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8fafc"/>
                </a:solidFill>
                <a:latin typeface="Calibri"/>
                <a:ea typeface="Calibri"/>
              </a:rPr>
              <a:t>4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8412480" y="24048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Tabelas relacionadas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7406640" y="3108960"/>
            <a:ext cx="4205880" cy="1234080"/>
          </a:xfrm>
          <a:prstGeom prst="roundRect">
            <a:avLst>
              <a:gd name="adj" fmla="val 8889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11"/>
          <p:cNvSpPr/>
          <p:nvPr/>
        </p:nvSpPr>
        <p:spPr>
          <a:xfrm>
            <a:off x="7680960" y="3438000"/>
            <a:ext cx="566640" cy="56664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4" name="Image 2" descr="assets/icon-terminal-cyan.png"/>
          <p:cNvPicPr/>
          <p:nvPr/>
        </p:nvPicPr>
        <p:blipFill>
          <a:blip r:embed="rId3"/>
          <a:stretch/>
        </p:blipFill>
        <p:spPr>
          <a:xfrm>
            <a:off x="7749000" y="3506040"/>
            <a:ext cx="430560" cy="430560"/>
          </a:xfrm>
          <a:prstGeom prst="rect">
            <a:avLst/>
          </a:prstGeom>
          <a:ln w="0">
            <a:noFill/>
          </a:ln>
        </p:spPr>
      </p:pic>
      <p:sp>
        <p:nvSpPr>
          <p:cNvPr id="75" name="Text 12"/>
          <p:cNvSpPr/>
          <p:nvPr/>
        </p:nvSpPr>
        <p:spPr>
          <a:xfrm>
            <a:off x="8412480" y="321876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8fafc"/>
                </a:solidFill>
                <a:latin typeface="Calibri"/>
                <a:ea typeface="Calibri"/>
              </a:rPr>
              <a:t>10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8412480" y="38221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Opções no menu principal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77" name="Shape 14"/>
          <p:cNvSpPr/>
          <p:nvPr/>
        </p:nvSpPr>
        <p:spPr>
          <a:xfrm>
            <a:off x="7406640" y="4526280"/>
            <a:ext cx="4205880" cy="1234080"/>
          </a:xfrm>
          <a:prstGeom prst="roundRect">
            <a:avLst>
              <a:gd name="adj" fmla="val 8889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" name="Shape 15"/>
          <p:cNvSpPr/>
          <p:nvPr/>
        </p:nvSpPr>
        <p:spPr>
          <a:xfrm>
            <a:off x="7680960" y="4855320"/>
            <a:ext cx="566640" cy="56664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9" name="Image 3" descr="assets/icon-users-cyan.png"/>
          <p:cNvPicPr/>
          <p:nvPr/>
        </p:nvPicPr>
        <p:blipFill>
          <a:blip r:embed="rId4"/>
          <a:stretch/>
        </p:blipFill>
        <p:spPr>
          <a:xfrm>
            <a:off x="7749000" y="4923360"/>
            <a:ext cx="430560" cy="430560"/>
          </a:xfrm>
          <a:prstGeom prst="rect">
            <a:avLst/>
          </a:prstGeom>
          <a:ln w="0">
            <a:noFill/>
          </a:ln>
        </p:spPr>
      </p:pic>
      <p:sp>
        <p:nvSpPr>
          <p:cNvPr id="80" name="Text 16"/>
          <p:cNvSpPr/>
          <p:nvPr/>
        </p:nvSpPr>
        <p:spPr>
          <a:xfrm>
            <a:off x="8412480" y="463608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8fafc"/>
                </a:solidFill>
                <a:latin typeface="Calibri"/>
                <a:ea typeface="Calibri"/>
              </a:rPr>
              <a:t>3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8412480" y="523944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Integrantes na equipe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Image 0" descr="assets/bg-content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3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22d3ee"/>
                </a:solidFill>
                <a:latin typeface="Calibri"/>
                <a:ea typeface="Calibri"/>
              </a:rPr>
              <a:t>ARQUITETURA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8fafc"/>
                </a:solidFill>
                <a:latin typeface="Calibri"/>
                <a:ea typeface="Calibri"/>
              </a:rPr>
              <a:t>Stack Tecnológica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1133856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03 / 08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64748b"/>
                </a:solidFill>
                <a:latin typeface="Calibri"/>
                <a:ea typeface="Calibri"/>
              </a:rPr>
              <a:t>SISTEMA DE CONTROLE DE PEDIDOS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548640" y="1691640"/>
            <a:ext cx="525744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" name="Shape 5"/>
          <p:cNvSpPr/>
          <p:nvPr/>
        </p:nvSpPr>
        <p:spPr>
          <a:xfrm>
            <a:off x="868680" y="2011680"/>
            <a:ext cx="658080" cy="6580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9" name="Image 1" descr="assets/icon-python-cyan.png"/>
          <p:cNvPicPr/>
          <p:nvPr/>
        </p:nvPicPr>
        <p:blipFill>
          <a:blip r:embed="rId2"/>
          <a:stretch/>
        </p:blipFill>
        <p:spPr>
          <a:xfrm>
            <a:off x="947520" y="2090520"/>
            <a:ext cx="500040" cy="500040"/>
          </a:xfrm>
          <a:prstGeom prst="rect">
            <a:avLst/>
          </a:prstGeom>
          <a:ln w="0">
            <a:noFill/>
          </a:ln>
        </p:spPr>
      </p:pic>
      <p:sp>
        <p:nvSpPr>
          <p:cNvPr id="90" name="Text 6"/>
          <p:cNvSpPr/>
          <p:nvPr/>
        </p:nvSpPr>
        <p:spPr>
          <a:xfrm>
            <a:off x="1737360" y="198432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8fafc"/>
                </a:solidFill>
                <a:latin typeface="Calibri"/>
                <a:ea typeface="Calibri"/>
              </a:rPr>
              <a:t>Python 3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868680" y="2743200"/>
            <a:ext cx="461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Linguagem principal, com estrutura modular por responsabilidade (clientes, produtos, pedidos, relatórios).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6172200" y="1691640"/>
            <a:ext cx="525744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Shape 9"/>
          <p:cNvSpPr/>
          <p:nvPr/>
        </p:nvSpPr>
        <p:spPr>
          <a:xfrm>
            <a:off x="6492240" y="2011680"/>
            <a:ext cx="658080" cy="6580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4" name="Image 2" descr="assets/icon-database-cyan.png"/>
          <p:cNvPicPr/>
          <p:nvPr/>
        </p:nvPicPr>
        <p:blipFill>
          <a:blip r:embed="rId3"/>
          <a:stretch/>
        </p:blipFill>
        <p:spPr>
          <a:xfrm>
            <a:off x="6571080" y="2090520"/>
            <a:ext cx="500040" cy="500040"/>
          </a:xfrm>
          <a:prstGeom prst="rect">
            <a:avLst/>
          </a:prstGeom>
          <a:ln w="0">
            <a:noFill/>
          </a:ln>
        </p:spPr>
      </p:pic>
      <p:sp>
        <p:nvSpPr>
          <p:cNvPr id="95" name="Text 10"/>
          <p:cNvSpPr/>
          <p:nvPr/>
        </p:nvSpPr>
        <p:spPr>
          <a:xfrm>
            <a:off x="7360920" y="198432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8fafc"/>
                </a:solidFill>
                <a:latin typeface="Calibri"/>
                <a:ea typeface="Calibri"/>
              </a:rPr>
              <a:t>SQLite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6492240" y="2743200"/>
            <a:ext cx="461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Banco de dados relacional embutido, acessado via módulo nativo sqlite3, com chaves estrangeiras habilitadas.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548640" y="3977640"/>
            <a:ext cx="525744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8" name="Shape 13"/>
          <p:cNvSpPr/>
          <p:nvPr/>
        </p:nvSpPr>
        <p:spPr>
          <a:xfrm>
            <a:off x="868680" y="4297680"/>
            <a:ext cx="658080" cy="6580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9" name="Image 3" descr="assets/icon-terminal-cyan.png"/>
          <p:cNvPicPr/>
          <p:nvPr/>
        </p:nvPicPr>
        <p:blipFill>
          <a:blip r:embed="rId4"/>
          <a:stretch/>
        </p:blipFill>
        <p:spPr>
          <a:xfrm>
            <a:off x="947520" y="4376520"/>
            <a:ext cx="500040" cy="500040"/>
          </a:xfrm>
          <a:prstGeom prst="rect">
            <a:avLst/>
          </a:prstGeom>
          <a:ln w="0">
            <a:noFill/>
          </a:ln>
        </p:spPr>
      </p:pic>
      <p:sp>
        <p:nvSpPr>
          <p:cNvPr id="100" name="Text 14"/>
          <p:cNvSpPr/>
          <p:nvPr/>
        </p:nvSpPr>
        <p:spPr>
          <a:xfrm>
            <a:off x="1737360" y="427032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8fafc"/>
                </a:solidFill>
                <a:latin typeface="Calibri"/>
                <a:ea typeface="Calibri"/>
              </a:rPr>
              <a:t>Interface CLI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868680" y="5029200"/>
            <a:ext cx="461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Menu numerado no terminal, com validação de entradas e funções auxiliares de leitura de dados.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6172200" y="3977640"/>
            <a:ext cx="525744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Shape 17"/>
          <p:cNvSpPr/>
          <p:nvPr/>
        </p:nvSpPr>
        <p:spPr>
          <a:xfrm>
            <a:off x="6492240" y="4297680"/>
            <a:ext cx="658080" cy="6580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4" name="Image 4" descr="assets/icon-github-cyan.png"/>
          <p:cNvPicPr/>
          <p:nvPr/>
        </p:nvPicPr>
        <p:blipFill>
          <a:blip r:embed="rId5"/>
          <a:stretch/>
        </p:blipFill>
        <p:spPr>
          <a:xfrm>
            <a:off x="6571080" y="4376520"/>
            <a:ext cx="500040" cy="500040"/>
          </a:xfrm>
          <a:prstGeom prst="rect">
            <a:avLst/>
          </a:prstGeom>
          <a:ln w="0">
            <a:noFill/>
          </a:ln>
        </p:spPr>
      </p:pic>
      <p:sp>
        <p:nvSpPr>
          <p:cNvPr id="105" name="Text 18"/>
          <p:cNvSpPr/>
          <p:nvPr/>
        </p:nvSpPr>
        <p:spPr>
          <a:xfrm>
            <a:off x="7360920" y="427032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8fafc"/>
                </a:solidFill>
                <a:latin typeface="Calibri"/>
                <a:ea typeface="Calibri"/>
              </a:rPr>
              <a:t>Git &amp; GitHub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6492240" y="5029200"/>
            <a:ext cx="461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Controle de versão colaborativo, repositório público com commits de todos os integrantes da equipe.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assets/bg-content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08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22d3ee"/>
                </a:solidFill>
                <a:latin typeface="Calibri"/>
                <a:ea typeface="Calibri"/>
              </a:rPr>
              <a:t>BANCO DE DADOS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8fafc"/>
                </a:solidFill>
                <a:latin typeface="Calibri"/>
                <a:ea typeface="Calibri"/>
              </a:rPr>
              <a:t>Modelo de Dados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1133856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04 / 08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64748b"/>
                </a:solidFill>
                <a:latin typeface="Calibri"/>
                <a:ea typeface="Calibri"/>
              </a:rPr>
              <a:t>SISTEMA DE CONTROLE DE PEDIDOS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548640" y="1828800"/>
            <a:ext cx="2541600" cy="3200040"/>
          </a:xfrm>
          <a:prstGeom prst="roundRect">
            <a:avLst>
              <a:gd name="adj" fmla="val 4317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Shape 5"/>
          <p:cNvSpPr/>
          <p:nvPr/>
        </p:nvSpPr>
        <p:spPr>
          <a:xfrm>
            <a:off x="1499760" y="2121480"/>
            <a:ext cx="639720" cy="63972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4" name="Image 1" descr="assets/icon-users-cyan.png"/>
          <p:cNvPicPr/>
          <p:nvPr/>
        </p:nvPicPr>
        <p:blipFill>
          <a:blip r:embed="rId2"/>
          <a:stretch/>
        </p:blipFill>
        <p:spPr>
          <a:xfrm>
            <a:off x="1576440" y="2198160"/>
            <a:ext cx="486000" cy="486000"/>
          </a:xfrm>
          <a:prstGeom prst="rect">
            <a:avLst/>
          </a:prstGeom>
          <a:ln w="0">
            <a:noFill/>
          </a:ln>
        </p:spPr>
      </p:pic>
      <p:sp>
        <p:nvSpPr>
          <p:cNvPr id="115" name="Text 6"/>
          <p:cNvSpPr/>
          <p:nvPr/>
        </p:nvSpPr>
        <p:spPr>
          <a:xfrm>
            <a:off x="548640" y="2926080"/>
            <a:ext cx="254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8fafc"/>
                </a:solidFill>
                <a:latin typeface="Calibri"/>
                <a:ea typeface="Calibri"/>
              </a:rPr>
              <a:t>clientes</a:t>
            </a:r>
            <a:endParaRPr b="0" lang="pt-BR" sz="1550" spc="-1" strike="noStrike"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731520" y="3429000"/>
            <a:ext cx="2175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id · nome · email</a:t>
            </a:r>
            <a:endParaRPr b="0" lang="pt-BR" sz="1100" spc="-1" strike="noStrike">
              <a:latin typeface="Arial"/>
            </a:endParaRPr>
          </a:p>
          <a:p>
            <a:pPr algn="ctr">
              <a:lnSpc>
                <a:spcPct val="13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telefone · data_cadastro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3090600" y="320040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2d3ee"/>
                </a:solidFill>
                <a:latin typeface="Calibri"/>
                <a:ea typeface="Calibri"/>
              </a:rPr>
              <a:t>→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3346560" y="1828800"/>
            <a:ext cx="2541600" cy="3200040"/>
          </a:xfrm>
          <a:prstGeom prst="roundRect">
            <a:avLst>
              <a:gd name="adj" fmla="val 4317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9" name="Shape 10"/>
          <p:cNvSpPr/>
          <p:nvPr/>
        </p:nvSpPr>
        <p:spPr>
          <a:xfrm>
            <a:off x="4297680" y="2121480"/>
            <a:ext cx="639720" cy="63972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0" name="Image 2" descr="assets/icon-box-cyan.png"/>
          <p:cNvPicPr/>
          <p:nvPr/>
        </p:nvPicPr>
        <p:blipFill>
          <a:blip r:embed="rId3"/>
          <a:stretch/>
        </p:blipFill>
        <p:spPr>
          <a:xfrm>
            <a:off x="4374360" y="2198160"/>
            <a:ext cx="486000" cy="486000"/>
          </a:xfrm>
          <a:prstGeom prst="rect">
            <a:avLst/>
          </a:prstGeom>
          <a:ln w="0">
            <a:noFill/>
          </a:ln>
        </p:spPr>
      </p:pic>
      <p:sp>
        <p:nvSpPr>
          <p:cNvPr id="121" name="Text 11"/>
          <p:cNvSpPr/>
          <p:nvPr/>
        </p:nvSpPr>
        <p:spPr>
          <a:xfrm>
            <a:off x="3346560" y="2926080"/>
            <a:ext cx="254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8fafc"/>
                </a:solidFill>
                <a:latin typeface="Calibri"/>
                <a:ea typeface="Calibri"/>
              </a:rPr>
              <a:t>produtos</a:t>
            </a:r>
            <a:endParaRPr b="0" lang="pt-BR" sz="1550" spc="-1" strike="noStrike"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3529440" y="3429000"/>
            <a:ext cx="2175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id · nome · descricao</a:t>
            </a:r>
            <a:endParaRPr b="0" lang="pt-BR" sz="1100" spc="-1" strike="noStrike">
              <a:latin typeface="Arial"/>
            </a:endParaRPr>
          </a:p>
          <a:p>
            <a:pPr algn="ctr">
              <a:lnSpc>
                <a:spcPct val="13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preco · estoque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5888880" y="320040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2d3ee"/>
                </a:solidFill>
                <a:latin typeface="Calibri"/>
                <a:ea typeface="Calibri"/>
              </a:rPr>
              <a:t>→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6144840" y="1828800"/>
            <a:ext cx="2541600" cy="3200040"/>
          </a:xfrm>
          <a:prstGeom prst="roundRect">
            <a:avLst>
              <a:gd name="adj" fmla="val 4317"/>
            </a:avLst>
          </a:prstGeom>
          <a:solidFill>
            <a:srgbClr val="1b2338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Shape 15"/>
          <p:cNvSpPr/>
          <p:nvPr/>
        </p:nvSpPr>
        <p:spPr>
          <a:xfrm>
            <a:off x="7095600" y="2121480"/>
            <a:ext cx="639720" cy="63972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6" name="Image 3" descr="assets/icon-cart-cyan.png"/>
          <p:cNvPicPr/>
          <p:nvPr/>
        </p:nvPicPr>
        <p:blipFill>
          <a:blip r:embed="rId4"/>
          <a:stretch/>
        </p:blipFill>
        <p:spPr>
          <a:xfrm>
            <a:off x="7172640" y="2198160"/>
            <a:ext cx="486000" cy="486000"/>
          </a:xfrm>
          <a:prstGeom prst="rect">
            <a:avLst/>
          </a:prstGeom>
          <a:ln w="0">
            <a:noFill/>
          </a:ln>
        </p:spPr>
      </p:pic>
      <p:sp>
        <p:nvSpPr>
          <p:cNvPr id="127" name="Text 16"/>
          <p:cNvSpPr/>
          <p:nvPr/>
        </p:nvSpPr>
        <p:spPr>
          <a:xfrm>
            <a:off x="6144840" y="2926080"/>
            <a:ext cx="254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8fafc"/>
                </a:solidFill>
                <a:latin typeface="Calibri"/>
                <a:ea typeface="Calibri"/>
              </a:rPr>
              <a:t>pedidos</a:t>
            </a:r>
            <a:endParaRPr b="0" lang="pt-BR" sz="1550" spc="-1" strike="noStrike">
              <a:latin typeface="Arial"/>
            </a:endParaRPr>
          </a:p>
        </p:txBody>
      </p:sp>
      <p:sp>
        <p:nvSpPr>
          <p:cNvPr id="128" name="Text 17"/>
          <p:cNvSpPr/>
          <p:nvPr/>
        </p:nvSpPr>
        <p:spPr>
          <a:xfrm>
            <a:off x="6327720" y="3429000"/>
            <a:ext cx="2175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id · cliente_id (FK)</a:t>
            </a:r>
            <a:endParaRPr b="0" lang="pt-BR" sz="1100" spc="-1" strike="noStrike">
              <a:latin typeface="Arial"/>
            </a:endParaRPr>
          </a:p>
          <a:p>
            <a:pPr algn="ctr">
              <a:lnSpc>
                <a:spcPct val="13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status · valor_total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29" name="Text 18"/>
          <p:cNvSpPr/>
          <p:nvPr/>
        </p:nvSpPr>
        <p:spPr>
          <a:xfrm>
            <a:off x="8686800" y="320040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2d3ee"/>
                </a:solidFill>
                <a:latin typeface="Calibri"/>
                <a:ea typeface="Calibri"/>
              </a:rPr>
              <a:t>→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30" name="Shape 19"/>
          <p:cNvSpPr/>
          <p:nvPr/>
        </p:nvSpPr>
        <p:spPr>
          <a:xfrm>
            <a:off x="8942760" y="1828800"/>
            <a:ext cx="2541600" cy="3200040"/>
          </a:xfrm>
          <a:prstGeom prst="roundRect">
            <a:avLst>
              <a:gd name="adj" fmla="val 4317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Shape 20"/>
          <p:cNvSpPr/>
          <p:nvPr/>
        </p:nvSpPr>
        <p:spPr>
          <a:xfrm>
            <a:off x="9893880" y="2121480"/>
            <a:ext cx="639720" cy="63972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32" name="Image 4" descr="assets/icon-layer-cyan.png"/>
          <p:cNvPicPr/>
          <p:nvPr/>
        </p:nvPicPr>
        <p:blipFill>
          <a:blip r:embed="rId5"/>
          <a:stretch/>
        </p:blipFill>
        <p:spPr>
          <a:xfrm>
            <a:off x="9970560" y="2198160"/>
            <a:ext cx="486000" cy="486000"/>
          </a:xfrm>
          <a:prstGeom prst="rect">
            <a:avLst/>
          </a:prstGeom>
          <a:ln w="0">
            <a:noFill/>
          </a:ln>
        </p:spPr>
      </p:pic>
      <p:sp>
        <p:nvSpPr>
          <p:cNvPr id="133" name="Text 21"/>
          <p:cNvSpPr/>
          <p:nvPr/>
        </p:nvSpPr>
        <p:spPr>
          <a:xfrm>
            <a:off x="8942760" y="2926080"/>
            <a:ext cx="254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8fafc"/>
                </a:solidFill>
                <a:latin typeface="Calibri"/>
                <a:ea typeface="Calibri"/>
              </a:rPr>
              <a:t>itens_pedido</a:t>
            </a:r>
            <a:endParaRPr b="0" lang="pt-BR" sz="1550" spc="-1" strike="noStrike"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9125640" y="3429000"/>
            <a:ext cx="2175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id · pedido_id (FK)</a:t>
            </a:r>
            <a:endParaRPr b="0" lang="pt-BR" sz="1100" spc="-1" strike="noStrike">
              <a:latin typeface="Arial"/>
            </a:endParaRPr>
          </a:p>
          <a:p>
            <a:pPr algn="ctr">
              <a:lnSpc>
                <a:spcPct val="13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produto_id (FK) · subtotal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548640" y="52578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Relacionamento: pedidos.cliente_id → clientes.id  |  itens_pedido.pedido_id → pedidos.id  |  itens_pedido.produto_id → produtos.id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 0" descr="assets/bg-content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37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22d3ee"/>
                </a:solidFill>
                <a:latin typeface="Calibri"/>
                <a:ea typeface="Calibri"/>
              </a:rPr>
              <a:t>O QUE O SISTEMA FAZ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8fafc"/>
                </a:solidFill>
                <a:latin typeface="Calibri"/>
                <a:ea typeface="Calibri"/>
              </a:rPr>
              <a:t>Funcionalidades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1133856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05 / 08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64748b"/>
                </a:solidFill>
                <a:latin typeface="Calibri"/>
                <a:ea typeface="Calibri"/>
              </a:rPr>
              <a:t>SISTEMA DE CONTROLE DE PEDIDOS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548640" y="1691640"/>
            <a:ext cx="361152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Shape 5"/>
          <p:cNvSpPr/>
          <p:nvPr/>
        </p:nvSpPr>
        <p:spPr>
          <a:xfrm>
            <a:off x="822960" y="1965960"/>
            <a:ext cx="548280" cy="5482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43" name="Image 1" descr="assets/icon-users-cyan.png"/>
          <p:cNvPicPr/>
          <p:nvPr/>
        </p:nvPicPr>
        <p:blipFill>
          <a:blip r:embed="rId2"/>
          <a:stretch/>
        </p:blipFill>
        <p:spPr>
          <a:xfrm>
            <a:off x="888840" y="203184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44" name="Text 6"/>
          <p:cNvSpPr/>
          <p:nvPr/>
        </p:nvSpPr>
        <p:spPr>
          <a:xfrm>
            <a:off x="822960" y="26517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8fafc"/>
                </a:solidFill>
                <a:latin typeface="Calibri"/>
                <a:ea typeface="Calibri"/>
              </a:rPr>
              <a:t>Clientes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822960" y="297180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Cadastro e listagem de clientes.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4389120" y="1691640"/>
            <a:ext cx="361152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7" name="Shape 9"/>
          <p:cNvSpPr/>
          <p:nvPr/>
        </p:nvSpPr>
        <p:spPr>
          <a:xfrm>
            <a:off x="4663440" y="1965960"/>
            <a:ext cx="548280" cy="5482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48" name="Image 2" descr="assets/icon-box-cyan.png"/>
          <p:cNvPicPr/>
          <p:nvPr/>
        </p:nvPicPr>
        <p:blipFill>
          <a:blip r:embed="rId3"/>
          <a:stretch/>
        </p:blipFill>
        <p:spPr>
          <a:xfrm>
            <a:off x="4729320" y="203184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49" name="Text 10"/>
          <p:cNvSpPr/>
          <p:nvPr/>
        </p:nvSpPr>
        <p:spPr>
          <a:xfrm>
            <a:off x="4663440" y="26517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8fafc"/>
                </a:solidFill>
                <a:latin typeface="Calibri"/>
                <a:ea typeface="Calibri"/>
              </a:rPr>
              <a:t>Produtos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4663440" y="297180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Cadastro com preço e estoque.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151" name="Shape 12"/>
          <p:cNvSpPr/>
          <p:nvPr/>
        </p:nvSpPr>
        <p:spPr>
          <a:xfrm>
            <a:off x="8229600" y="1691640"/>
            <a:ext cx="361152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13"/>
          <p:cNvSpPr/>
          <p:nvPr/>
        </p:nvSpPr>
        <p:spPr>
          <a:xfrm>
            <a:off x="8503920" y="1965960"/>
            <a:ext cx="548280" cy="5482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53" name="Image 3" descr="assets/icon-cart-cyan.png"/>
          <p:cNvPicPr/>
          <p:nvPr/>
        </p:nvPicPr>
        <p:blipFill>
          <a:blip r:embed="rId4"/>
          <a:stretch/>
        </p:blipFill>
        <p:spPr>
          <a:xfrm>
            <a:off x="8569800" y="203184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54" name="Text 14"/>
          <p:cNvSpPr/>
          <p:nvPr/>
        </p:nvSpPr>
        <p:spPr>
          <a:xfrm>
            <a:off x="8503920" y="26517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8fafc"/>
                </a:solidFill>
                <a:latin typeface="Calibri"/>
                <a:ea typeface="Calibri"/>
              </a:rPr>
              <a:t>Pedidos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8503920" y="297180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Múltiplos itens, cálculo automático.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156" name="Shape 16"/>
          <p:cNvSpPr/>
          <p:nvPr/>
        </p:nvSpPr>
        <p:spPr>
          <a:xfrm>
            <a:off x="548640" y="3931920"/>
            <a:ext cx="361152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Shape 17"/>
          <p:cNvSpPr/>
          <p:nvPr/>
        </p:nvSpPr>
        <p:spPr>
          <a:xfrm>
            <a:off x="822960" y="4206240"/>
            <a:ext cx="548280" cy="5482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58" name="Image 4" descr="assets/icon-sync-cyan.png"/>
          <p:cNvPicPr/>
          <p:nvPr/>
        </p:nvPicPr>
        <p:blipFill>
          <a:blip r:embed="rId5"/>
          <a:stretch/>
        </p:blipFill>
        <p:spPr>
          <a:xfrm>
            <a:off x="888840" y="427212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59" name="Text 18"/>
          <p:cNvSpPr/>
          <p:nvPr/>
        </p:nvSpPr>
        <p:spPr>
          <a:xfrm>
            <a:off x="822960" y="489204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8fafc"/>
                </a:solidFill>
                <a:latin typeface="Calibri"/>
                <a:ea typeface="Calibri"/>
              </a:rPr>
              <a:t>Status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60" name="Text 19"/>
          <p:cNvSpPr/>
          <p:nvPr/>
        </p:nvSpPr>
        <p:spPr>
          <a:xfrm>
            <a:off x="822960" y="52120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Pendente → Preparação → Enviado.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161" name="Shape 20"/>
          <p:cNvSpPr/>
          <p:nvPr/>
        </p:nvSpPr>
        <p:spPr>
          <a:xfrm>
            <a:off x="4389120" y="3931920"/>
            <a:ext cx="361152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21"/>
          <p:cNvSpPr/>
          <p:nvPr/>
        </p:nvSpPr>
        <p:spPr>
          <a:xfrm>
            <a:off x="4663440" y="4206240"/>
            <a:ext cx="548280" cy="5482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3" name="Image 5" descr="assets/icon-chart-cyan.png"/>
          <p:cNvPicPr/>
          <p:nvPr/>
        </p:nvPicPr>
        <p:blipFill>
          <a:blip r:embed="rId6"/>
          <a:stretch/>
        </p:blipFill>
        <p:spPr>
          <a:xfrm>
            <a:off x="4729320" y="427212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64" name="Text 22"/>
          <p:cNvSpPr/>
          <p:nvPr/>
        </p:nvSpPr>
        <p:spPr>
          <a:xfrm>
            <a:off x="4663440" y="489204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8fafc"/>
                </a:solidFill>
                <a:latin typeface="Calibri"/>
                <a:ea typeface="Calibri"/>
              </a:rPr>
              <a:t>Relatórios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4663440" y="52120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Filtro por período ou cliente.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166" name="Shape 24"/>
          <p:cNvSpPr/>
          <p:nvPr/>
        </p:nvSpPr>
        <p:spPr>
          <a:xfrm>
            <a:off x="8229600" y="3931920"/>
            <a:ext cx="3611520" cy="196560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7" name="Shape 25"/>
          <p:cNvSpPr/>
          <p:nvPr/>
        </p:nvSpPr>
        <p:spPr>
          <a:xfrm>
            <a:off x="8503920" y="4206240"/>
            <a:ext cx="548280" cy="5482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8" name="Image 6" descr="assets/icon-database-cyan.png"/>
          <p:cNvPicPr/>
          <p:nvPr/>
        </p:nvPicPr>
        <p:blipFill>
          <a:blip r:embed="rId7"/>
          <a:stretch/>
        </p:blipFill>
        <p:spPr>
          <a:xfrm>
            <a:off x="8569800" y="427212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69" name="Text 26"/>
          <p:cNvSpPr/>
          <p:nvPr/>
        </p:nvSpPr>
        <p:spPr>
          <a:xfrm>
            <a:off x="8503920" y="489204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8fafc"/>
                </a:solidFill>
                <a:latin typeface="Calibri"/>
                <a:ea typeface="Calibri"/>
              </a:rPr>
              <a:t>Persistência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70" name="Text 27"/>
          <p:cNvSpPr/>
          <p:nvPr/>
        </p:nvSpPr>
        <p:spPr>
          <a:xfrm>
            <a:off x="8503920" y="52120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Todos os dados em SQLite.</a:t>
            </a:r>
            <a:endParaRPr b="0" lang="pt-BR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age 0" descr="assets/bg-content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72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22d3ee"/>
                </a:solidFill>
                <a:latin typeface="Calibri"/>
                <a:ea typeface="Calibri"/>
              </a:rPr>
              <a:t>DEMONSTRAÇÃO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8fafc"/>
                </a:solidFill>
                <a:latin typeface="Calibri"/>
                <a:ea typeface="Calibri"/>
              </a:rPr>
              <a:t>Sistema em Execução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1133856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06 / 08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64748b"/>
                </a:solidFill>
                <a:latin typeface="Calibri"/>
                <a:ea typeface="Calibri"/>
              </a:rPr>
              <a:t>SISTEMA DE CONTROLE DE PEDIDOS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1705320" y="1783080"/>
            <a:ext cx="8777880" cy="4336920"/>
          </a:xfrm>
          <a:prstGeom prst="roundRect">
            <a:avLst>
              <a:gd name="adj" fmla="val 1428"/>
            </a:avLst>
          </a:prstGeom>
          <a:solidFill>
            <a:srgbClr val="05070d"/>
          </a:solidFill>
          <a:ln w="12700">
            <a:solidFill>
              <a:srgbClr val="242c42"/>
            </a:solidFill>
            <a:round/>
          </a:ln>
          <a:effectLst>
            <a:outerShdw algn="bl" blurRad="177840" dir="5400000" dist="76320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Shape 5"/>
          <p:cNvSpPr/>
          <p:nvPr/>
        </p:nvSpPr>
        <p:spPr>
          <a:xfrm>
            <a:off x="1705320" y="1783080"/>
            <a:ext cx="8777880" cy="328680"/>
          </a:xfrm>
          <a:prstGeom prst="roundRect">
            <a:avLst>
              <a:gd name="adj" fmla="val 22222"/>
            </a:avLst>
          </a:prstGeom>
          <a:solidFill>
            <a:srgbClr val="1b23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6"/>
          <p:cNvSpPr/>
          <p:nvPr/>
        </p:nvSpPr>
        <p:spPr>
          <a:xfrm>
            <a:off x="1888200" y="1883520"/>
            <a:ext cx="118440" cy="118440"/>
          </a:xfrm>
          <a:prstGeom prst="ellipse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Shape 7"/>
          <p:cNvSpPr/>
          <p:nvPr/>
        </p:nvSpPr>
        <p:spPr>
          <a:xfrm>
            <a:off x="2116800" y="1883520"/>
            <a:ext cx="118440" cy="118440"/>
          </a:xfrm>
          <a:prstGeom prst="ellipse">
            <a:avLst/>
          </a:prstGeom>
          <a:solidFill>
            <a:srgbClr val="f1c4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8"/>
          <p:cNvSpPr/>
          <p:nvPr/>
        </p:nvSpPr>
        <p:spPr>
          <a:xfrm>
            <a:off x="2345400" y="1883520"/>
            <a:ext cx="118440" cy="118440"/>
          </a:xfrm>
          <a:prstGeom prst="ellipse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9"/>
          <p:cNvSpPr/>
          <p:nvPr/>
        </p:nvSpPr>
        <p:spPr>
          <a:xfrm>
            <a:off x="1705320" y="1783080"/>
            <a:ext cx="877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menu principal — main.py</a:t>
            </a:r>
            <a:endParaRPr b="0" lang="pt-BR" sz="1000" spc="-1" strike="noStrike">
              <a:latin typeface="Arial"/>
            </a:endParaRPr>
          </a:p>
        </p:txBody>
      </p:sp>
      <p:pic>
        <p:nvPicPr>
          <p:cNvPr id="182" name="Image 1" descr="assets/print-menu.png"/>
          <p:cNvPicPr/>
          <p:nvPr/>
        </p:nvPicPr>
        <p:blipFill>
          <a:blip r:embed="rId2"/>
          <a:stretch/>
        </p:blipFill>
        <p:spPr>
          <a:xfrm>
            <a:off x="1705320" y="2112120"/>
            <a:ext cx="8777880" cy="4007880"/>
          </a:xfrm>
          <a:prstGeom prst="rect">
            <a:avLst/>
          </a:prstGeom>
          <a:ln w="0">
            <a:noFill/>
          </a:ln>
        </p:spPr>
      </p:pic>
      <p:sp>
        <p:nvSpPr>
          <p:cNvPr id="183" name="Text 10"/>
          <p:cNvSpPr/>
          <p:nvPr/>
        </p:nvSpPr>
        <p:spPr>
          <a:xfrm>
            <a:off x="1705320" y="7041240"/>
            <a:ext cx="8777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Menu principal do sistema, com as 10 operações disponíveis via linha de comando.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assets/bg-content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85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22d3ee"/>
                </a:solidFill>
                <a:latin typeface="Calibri"/>
                <a:ea typeface="Calibri"/>
              </a:rPr>
              <a:t>RETROSPECTIVA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8fafc"/>
                </a:solidFill>
                <a:latin typeface="Calibri"/>
                <a:ea typeface="Calibri"/>
              </a:rPr>
              <a:t>Desafios &amp; Soluções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1133856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07 / 08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64748b"/>
                </a:solidFill>
                <a:latin typeface="Calibri"/>
                <a:ea typeface="Calibri"/>
              </a:rPr>
              <a:t>SISTEMA DE CONTROLE DE PEDIDOS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548640" y="1691640"/>
            <a:ext cx="11063880" cy="1416960"/>
          </a:xfrm>
          <a:prstGeom prst="roundRect">
            <a:avLst>
              <a:gd name="adj" fmla="val 7742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Shape 5"/>
          <p:cNvSpPr/>
          <p:nvPr/>
        </p:nvSpPr>
        <p:spPr>
          <a:xfrm>
            <a:off x="822960" y="2112120"/>
            <a:ext cx="566640" cy="566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91" name="Image 1" descr="assets/icon-bug-cyan.png"/>
          <p:cNvPicPr/>
          <p:nvPr/>
        </p:nvPicPr>
        <p:blipFill>
          <a:blip r:embed="rId2"/>
          <a:stretch/>
        </p:blipFill>
        <p:spPr>
          <a:xfrm>
            <a:off x="891000" y="2180160"/>
            <a:ext cx="430560" cy="430560"/>
          </a:xfrm>
          <a:prstGeom prst="rect">
            <a:avLst/>
          </a:prstGeom>
          <a:ln w="0">
            <a:noFill/>
          </a:ln>
        </p:spPr>
      </p:pic>
      <p:sp>
        <p:nvSpPr>
          <p:cNvPr id="192" name="Text 6"/>
          <p:cNvSpPr/>
          <p:nvPr/>
        </p:nvSpPr>
        <p:spPr>
          <a:xfrm>
            <a:off x="1600200" y="1856160"/>
            <a:ext cx="9783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94a3b8"/>
                </a:solidFill>
                <a:latin typeface="Calibri"/>
                <a:ea typeface="Calibri"/>
              </a:rPr>
              <a:t>Configuração do fluxo Git/GitHub: primeira vez usando controle de versão via interface gráfica (Git Gui). Solução: seguimos um passo a passo estruturado (Rescan → Stage → Commit → Push) e configuramos o repositório remoto (origin) manualmente até dominar o fluxo.</a:t>
            </a:r>
            <a:endParaRPr b="0" lang="pt-BR" sz="1250" spc="-1" strike="noStrike"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548640" y="3319200"/>
            <a:ext cx="11063880" cy="1416960"/>
          </a:xfrm>
          <a:prstGeom prst="roundRect">
            <a:avLst>
              <a:gd name="adj" fmla="val 7742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4" name="Shape 8"/>
          <p:cNvSpPr/>
          <p:nvPr/>
        </p:nvSpPr>
        <p:spPr>
          <a:xfrm>
            <a:off x="822960" y="3740040"/>
            <a:ext cx="566640" cy="566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95" name="Image 2" descr="assets/icon-bug-cyan.png"/>
          <p:cNvPicPr/>
          <p:nvPr/>
        </p:nvPicPr>
        <p:blipFill>
          <a:blip r:embed="rId3"/>
          <a:stretch/>
        </p:blipFill>
        <p:spPr>
          <a:xfrm>
            <a:off x="891000" y="3808080"/>
            <a:ext cx="430560" cy="430560"/>
          </a:xfrm>
          <a:prstGeom prst="rect">
            <a:avLst/>
          </a:prstGeom>
          <a:ln w="0">
            <a:noFill/>
          </a:ln>
        </p:spPr>
      </p:pic>
      <p:sp>
        <p:nvSpPr>
          <p:cNvPr id="196" name="Text 9"/>
          <p:cNvSpPr/>
          <p:nvPr/>
        </p:nvSpPr>
        <p:spPr>
          <a:xfrm>
            <a:off x="1600200" y="3483720"/>
            <a:ext cx="9783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94a3b8"/>
                </a:solidFill>
                <a:latin typeface="Calibri"/>
                <a:ea typeface="Calibri"/>
              </a:rPr>
              <a:t>Bug no cadastro de clientes: o campo obrigatório "nome" aceitava valor vazio, permitindo cadastrar clientes sem identificação. Solução: adicionada validação que impede o cadastro caso o campo esteja em branco.</a:t>
            </a:r>
            <a:endParaRPr b="0" lang="pt-BR" sz="1250" spc="-1" strike="noStrike">
              <a:latin typeface="Arial"/>
            </a:endParaRPr>
          </a:p>
        </p:txBody>
      </p:sp>
      <p:sp>
        <p:nvSpPr>
          <p:cNvPr id="197" name="Shape 10"/>
          <p:cNvSpPr/>
          <p:nvPr/>
        </p:nvSpPr>
        <p:spPr>
          <a:xfrm>
            <a:off x="548640" y="4946760"/>
            <a:ext cx="11063880" cy="1416960"/>
          </a:xfrm>
          <a:prstGeom prst="roundRect">
            <a:avLst>
              <a:gd name="adj" fmla="val 7742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8" name="Shape 11"/>
          <p:cNvSpPr/>
          <p:nvPr/>
        </p:nvSpPr>
        <p:spPr>
          <a:xfrm>
            <a:off x="822960" y="5367600"/>
            <a:ext cx="566640" cy="566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99" name="Image 3" descr="assets/icon-bug-cyan.png"/>
          <p:cNvPicPr/>
          <p:nvPr/>
        </p:nvPicPr>
        <p:blipFill>
          <a:blip r:embed="rId4"/>
          <a:stretch/>
        </p:blipFill>
        <p:spPr>
          <a:xfrm>
            <a:off x="891000" y="5435640"/>
            <a:ext cx="430560" cy="430560"/>
          </a:xfrm>
          <a:prstGeom prst="rect">
            <a:avLst/>
          </a:prstGeom>
          <a:ln w="0">
            <a:noFill/>
          </a:ln>
        </p:spPr>
      </p:pic>
      <p:sp>
        <p:nvSpPr>
          <p:cNvPr id="200" name="Text 12"/>
          <p:cNvSpPr/>
          <p:nvPr/>
        </p:nvSpPr>
        <p:spPr>
          <a:xfrm>
            <a:off x="1600200" y="5111640"/>
            <a:ext cx="9783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94a3b8"/>
                </a:solidFill>
                <a:latin typeface="Calibri"/>
                <a:ea typeface="Calibri"/>
              </a:rPr>
              <a:t>Domínio técnico do código: parte do desenvolvimento contou com apoio de IA. Solução: revisão linha a linha de todo o código pela equipe, garantindo que cada integrante consiga explicar o funcionamento na avaliação individual.</a:t>
            </a:r>
            <a:endParaRPr b="0" lang="pt-BR" sz="1250" spc="-1" strike="noStrike"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548640" y="65926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Todos os desafios acima foram registrados e resolvidos ao longo do desenvolvimento.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age 0" descr="assets/bg-title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pic>
        <p:nvPicPr>
          <p:cNvPr id="203" name="Image 1" descr="assets/icon-github-indigo.png"/>
          <p:cNvPicPr/>
          <p:nvPr/>
        </p:nvPicPr>
        <p:blipFill>
          <a:blip r:embed="rId2">
            <a:alphaModFix amt="12000"/>
          </a:blip>
          <a:stretch/>
        </p:blipFill>
        <p:spPr>
          <a:xfrm>
            <a:off x="8778240" y="4206240"/>
            <a:ext cx="2925720" cy="2925720"/>
          </a:xfrm>
          <a:prstGeom prst="rect">
            <a:avLst/>
          </a:prstGeom>
          <a:ln w="0">
            <a:noFill/>
          </a:ln>
        </p:spPr>
      </p:pic>
      <p:sp>
        <p:nvSpPr>
          <p:cNvPr id="204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22d3ee"/>
                </a:solidFill>
                <a:latin typeface="Calibri"/>
                <a:ea typeface="Calibri"/>
              </a:rPr>
              <a:t>CÓDIGO-FONTE &amp; DOCUMENTAÇÃO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548640" y="914400"/>
            <a:ext cx="9143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8fafc"/>
                </a:solidFill>
                <a:latin typeface="Calibri"/>
                <a:ea typeface="Calibri"/>
              </a:rPr>
              <a:t>Repositório no GitHub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548640" y="1874520"/>
            <a:ext cx="7589160" cy="959760"/>
          </a:xfrm>
          <a:prstGeom prst="roundRect">
            <a:avLst>
              <a:gd name="adj" fmla="val 11429"/>
            </a:avLst>
          </a:prstGeom>
          <a:solidFill>
            <a:srgbClr val="151b2e"/>
          </a:solidFill>
          <a:ln w="12700">
            <a:solidFill>
              <a:srgbClr val="242c4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Shape 3"/>
          <p:cNvSpPr/>
          <p:nvPr/>
        </p:nvSpPr>
        <p:spPr>
          <a:xfrm>
            <a:off x="822960" y="2075760"/>
            <a:ext cx="548280" cy="54828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8" name="Image 2" descr="assets/icon-link-cyan.png"/>
          <p:cNvPicPr/>
          <p:nvPr/>
        </p:nvPicPr>
        <p:blipFill>
          <a:blip r:embed="rId3"/>
          <a:stretch/>
        </p:blipFill>
        <p:spPr>
          <a:xfrm>
            <a:off x="888840" y="214164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209" name="Text 4"/>
          <p:cNvSpPr/>
          <p:nvPr/>
        </p:nvSpPr>
        <p:spPr>
          <a:xfrm>
            <a:off x="1600200" y="1874520"/>
            <a:ext cx="63090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818cf8"/>
                </a:solidFill>
                <a:latin typeface="Courier New"/>
                <a:ea typeface="Courier New"/>
              </a:rPr>
              <a:t>[https://github.com/alexandresdev21/trabalho-uninter]</a:t>
            </a:r>
            <a:endParaRPr b="0" lang="pt-BR" sz="1400" spc="-1" strike="noStrike">
              <a:latin typeface="Arial"/>
            </a:endParaRPr>
          </a:p>
        </p:txBody>
      </p:sp>
      <p:pic>
        <p:nvPicPr>
          <p:cNvPr id="210" name="Image 3" descr="assets/icon-check-cyan.png"/>
          <p:cNvPicPr/>
          <p:nvPr/>
        </p:nvPicPr>
        <p:blipFill>
          <a:blip r:embed="rId4"/>
          <a:stretch/>
        </p:blipFill>
        <p:spPr>
          <a:xfrm>
            <a:off x="594360" y="32004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11" name="Text 5"/>
          <p:cNvSpPr/>
          <p:nvPr/>
        </p:nvSpPr>
        <p:spPr>
          <a:xfrm>
            <a:off x="1005840" y="3145680"/>
            <a:ext cx="6857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Calibri"/>
                <a:ea typeface="Calibri"/>
              </a:rPr>
              <a:t>Repositório público</a:t>
            </a:r>
            <a:endParaRPr b="0" lang="pt-BR" sz="1350" spc="-1" strike="noStrike">
              <a:latin typeface="Arial"/>
            </a:endParaRPr>
          </a:p>
        </p:txBody>
      </p:sp>
      <p:pic>
        <p:nvPicPr>
          <p:cNvPr id="212" name="Image 4" descr="assets/icon-check-cyan.png"/>
          <p:cNvPicPr/>
          <p:nvPr/>
        </p:nvPicPr>
        <p:blipFill>
          <a:blip r:embed="rId5"/>
          <a:stretch/>
        </p:blipFill>
        <p:spPr>
          <a:xfrm>
            <a:off x="594360" y="36576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13" name="Text 6"/>
          <p:cNvSpPr/>
          <p:nvPr/>
        </p:nvSpPr>
        <p:spPr>
          <a:xfrm>
            <a:off x="1005840" y="3602880"/>
            <a:ext cx="6857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Calibri"/>
                <a:ea typeface="Calibri"/>
              </a:rPr>
              <a:t>README.md com descrição completa do projeto</a:t>
            </a:r>
            <a:endParaRPr b="0" lang="pt-BR" sz="1350" spc="-1" strike="noStrike">
              <a:latin typeface="Arial"/>
            </a:endParaRPr>
          </a:p>
        </p:txBody>
      </p:sp>
      <p:pic>
        <p:nvPicPr>
          <p:cNvPr id="214" name="Image 5" descr="assets/icon-check-cyan.png"/>
          <p:cNvPicPr/>
          <p:nvPr/>
        </p:nvPicPr>
        <p:blipFill>
          <a:blip r:embed="rId6"/>
          <a:stretch/>
        </p:blipFill>
        <p:spPr>
          <a:xfrm>
            <a:off x="594360" y="41148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15" name="Text 7"/>
          <p:cNvSpPr/>
          <p:nvPr/>
        </p:nvSpPr>
        <p:spPr>
          <a:xfrm>
            <a:off x="1005840" y="4060080"/>
            <a:ext cx="6857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Calibri"/>
                <a:ea typeface="Calibri"/>
              </a:rPr>
              <a:t>Código-fonte (main.py) documentado</a:t>
            </a:r>
            <a:endParaRPr b="0" lang="pt-BR" sz="1350" spc="-1" strike="noStrike">
              <a:latin typeface="Arial"/>
            </a:endParaRPr>
          </a:p>
        </p:txBody>
      </p:sp>
      <p:pic>
        <p:nvPicPr>
          <p:cNvPr id="216" name="Image 6" descr="assets/icon-check-cyan.png"/>
          <p:cNvPicPr/>
          <p:nvPr/>
        </p:nvPicPr>
        <p:blipFill>
          <a:blip r:embed="rId7"/>
          <a:stretch/>
        </p:blipFill>
        <p:spPr>
          <a:xfrm>
            <a:off x="594360" y="45720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17" name="Text 8"/>
          <p:cNvSpPr/>
          <p:nvPr/>
        </p:nvSpPr>
        <p:spPr>
          <a:xfrm>
            <a:off x="1005840" y="4517280"/>
            <a:ext cx="6857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Calibri"/>
                <a:ea typeface="Calibri"/>
              </a:rPr>
              <a:t>Apresentação (.pptx) incluída no repositório</a:t>
            </a:r>
            <a:endParaRPr b="0" lang="pt-BR" sz="1350" spc="-1" strike="noStrike">
              <a:latin typeface="Arial"/>
            </a:endParaRPr>
          </a:p>
        </p:txBody>
      </p:sp>
      <p:pic>
        <p:nvPicPr>
          <p:cNvPr id="218" name="Image 7" descr="assets/icon-check-cyan.png"/>
          <p:cNvPicPr/>
          <p:nvPr/>
        </p:nvPicPr>
        <p:blipFill>
          <a:blip r:embed="rId8"/>
          <a:stretch/>
        </p:blipFill>
        <p:spPr>
          <a:xfrm>
            <a:off x="594360" y="5029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19" name="Text 9"/>
          <p:cNvSpPr/>
          <p:nvPr/>
        </p:nvSpPr>
        <p:spPr>
          <a:xfrm>
            <a:off x="1005840" y="4974480"/>
            <a:ext cx="6857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Calibri"/>
                <a:ea typeface="Calibri"/>
              </a:rPr>
              <a:t>Commit de todos os integrantes da equipe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220" name="Shape 10"/>
          <p:cNvSpPr/>
          <p:nvPr/>
        </p:nvSpPr>
        <p:spPr>
          <a:xfrm>
            <a:off x="548640" y="5806440"/>
            <a:ext cx="7589520" cy="360"/>
          </a:xfrm>
          <a:prstGeom prst="line">
            <a:avLst/>
          </a:prstGeom>
          <a:ln w="12700">
            <a:solidFill>
              <a:srgbClr val="242c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11"/>
          <p:cNvSpPr/>
          <p:nvPr/>
        </p:nvSpPr>
        <p:spPr>
          <a:xfrm>
            <a:off x="548640" y="59893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Equipe 4   ·  Alexandre Eugênio Souza da Silveira  ·  André Felipe Coêlho Reis</a:t>
            </a:r>
            <a:endParaRPr b="0" lang="pt-BR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View_PPTX_PLUS/7.4.0.3$Windows_X86_64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2026-07-23T02:31:56Z</dcterms:created>
  <dc:creator>PptxGenJS</dc:creator>
  <dc:description/>
  <dc:language>pt-BR</dc:language>
  <cp:lastModifiedBy/>
  <dcterms:modified xsi:type="dcterms:W3CDTF">2026-07-22T23:45:17Z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